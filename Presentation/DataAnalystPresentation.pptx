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rels" ContentType="application/vnd.openxmlformats-package.relationship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857375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 showGuides="1">
      <p:cViewPr varScale="1">
        <p:scale>
          <a:sx n="56" d="100"/>
          <a:sy n="56" d="100"/>
        </p:scale>
        <p:origin x="28" y="80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24.xml"/><Relationship Id="rId3" Type="http://schemas.openxmlformats.org/officeDocument/2006/relationships/slide" Target="slides/slide1.xml"/><Relationship Id="rId29" Type="http://schemas.openxmlformats.org/officeDocument/2006/relationships/customXml" Target="../customXml/item3.xml"/><Relationship Id="rId28" Type="http://schemas.openxmlformats.org/officeDocument/2006/relationships/customXml" Target="../customXml/item2.xml"/><Relationship Id="rId27" Type="http://schemas.openxmlformats.org/officeDocument/2006/relationships/customXml" Target="../customXml/item1.xml"/><Relationship Id="rId26" Type="http://schemas.microsoft.com/office/2018/10/relationships/authors" Target="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0.000,'0.000'0.000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1.000,'0.000'0.000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0.000,'0.000'0.000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0.000,'6.000'0.000,"-4.000"6.000,-2.000 2.000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1.000,'0.000'0.000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1.000,'0.000'0.000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1.000,'0.000'0.000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0.000 1.000,'0.000'0.000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Current Market Leaders: JavaScript and SQL remain the most widely used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The Next Wave (Future Demand): significant shift-&gt; Python and Rust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Database Evolution:While relational databases like MySQL and PostgreSQL dominate current usage, there is growing momentum toward NoSQL and cloud-native solutions like MongoDB and Redis for future projects.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Compensation &amp; Experience:Data analysis confirms a strong positive correlation between years of professional experience and annual compensation, emphasizing the high value of senior-level expertise.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Global Developer Profile:Insights are derived from a diverse global dataset representing over 185 countries, with a median developer age of approximately 33 years.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Workplace Shift:A clear majority of developers now prefer remote or hybrid work environments, which has become a key factor in talent retention and recruitment.</a:t>
            </a:r>
            <a:endParaRPr lang="en-US" altLang="en-US" dirty="0"/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Purpose of the Report: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To analyze the current global developer landscape and identify the most sought-after programming languages and database technologies.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To leverage data from the Stack Overflow Developer Survey, Job APIs, and training portals to forecast future skill requirements for our consulting firm.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Target Audience: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Executive Leadership: To assist in strategic long-term planning.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Talent Acquisition &amp; HR: To guide recruitment strategies and competitive compensation packages.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Internal Training Departments: To identify emerging technologies for employee upskilling.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Value of the Analysis: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Ensures the organization remains competitive by staying ahead of the "Next Wave" of technology trends.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Provides data-driven evidence to prioritize hiring and training resources for high-growth languages like Python and Rust.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Benchmarks salary expectations against industry experience and job roles to ensure talent retention.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  <a:endParaRPr lang="en-US" sz="1400" b="0">
              <a:solidFill>
                <a:srgbClr val="000000"/>
              </a:solidFill>
              <a:latin typeface="Helv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microsoft.com/office/2007/relationships/hdphoto" Target="../media/image8.wdp"/><Relationship Id="rId7" Type="http://schemas.openxmlformats.org/officeDocument/2006/relationships/image" Target="../media/image7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1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pic>
        <p:nvPicPr>
          <p:cNvPr id="12" name="Picture 11" descr="Text, logo&#10;&#10;Description automatically generated"/>
          <p:cNvPicPr>
            <a:picLocks noChangeAspect="1"/>
          </p:cNvPicPr>
          <p:nvPr userDrawn="1"/>
        </p:nvPicPr>
        <p:blipFill rotWithShape="1">
          <a:blip r:embed="rId7">
            <a:alphaModFix amt="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77000"/>
                    </a14:imgEffect>
                    <a14:imgEffect>
                      <a14:saturation sat="155000"/>
                    </a14:imgEffect>
                  </a14:imgLayer>
                </a14:imgProps>
              </a:ext>
            </a:extLst>
          </a:blip>
          <a:srcRect l="-1923" r="70315"/>
          <a:stretch>
            <a:fillRect/>
          </a:stretch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7" name="Rectangle 36"/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8" name="Rectangle 37"/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9" name="Rectangle 38"/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43" name="Rectangle 42"/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  <a:endParaRPr lang="en-US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46" name="Rectangle 45"/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47" name="Rectangle 46"/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grpSp>
        <p:nvGrpSpPr>
          <p:cNvPr id="64" name="Group 63"/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/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/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/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/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/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6.xml"/><Relationship Id="rId8" Type="http://schemas.openxmlformats.org/officeDocument/2006/relationships/customXml" Target="../ink/ink5.xml"/><Relationship Id="rId7" Type="http://schemas.openxmlformats.org/officeDocument/2006/relationships/image" Target="../media/image12.png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.xml"/><Relationship Id="rId13" Type="http://schemas.openxmlformats.org/officeDocument/2006/relationships/image" Target="../media/image13.png"/><Relationship Id="rId12" Type="http://schemas.openxmlformats.org/officeDocument/2006/relationships/customXml" Target="../ink/ink9.xml"/><Relationship Id="rId11" Type="http://schemas.openxmlformats.org/officeDocument/2006/relationships/customXml" Target="../ink/ink8.xml"/><Relationship Id="rId10" Type="http://schemas.openxmlformats.org/officeDocument/2006/relationships/customXml" Target="../ink/ink7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3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4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5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7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8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9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0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595" y="1153795"/>
            <a:ext cx="7088505" cy="2126615"/>
          </a:xfrm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The Next Wave of Tech: </a:t>
            </a:r>
            <a:br>
              <a:rPr lang="en-US" altLang="en-US" sz="4000" dirty="0"/>
            </a:br>
            <a:r>
              <a:rPr lang="en-US" altLang="en-US" sz="4000" dirty="0"/>
              <a:t>A Comprehensive Report on In-Demand Developer Skills</a:t>
            </a:r>
            <a:endParaRPr lang="en-US" alt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Name: Feifei Li</a:t>
            </a:r>
            <a:endParaRPr lang="en-US" dirty="0"/>
          </a:p>
          <a:p>
            <a:r>
              <a:rPr lang="en-US" dirty="0"/>
              <a:t>1/1/2026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025" y="790575"/>
            <a:ext cx="3741420" cy="4596765"/>
          </a:xfrm>
          <a:prstGeom prst="rect">
            <a:avLst/>
          </a:prstGeom>
          <a:noFill/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/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  <a:endParaRPr lang="en-US" sz="2200" dirty="0"/>
          </a:p>
          <a:p>
            <a:r>
              <a:rPr lang="en-US" sz="2200" dirty="0"/>
              <a:t>Introduction</a:t>
            </a:r>
            <a:endParaRPr lang="en-US" sz="2200" dirty="0"/>
          </a:p>
          <a:p>
            <a:r>
              <a:rPr lang="en-US" sz="2200" dirty="0"/>
              <a:t>Methodology</a:t>
            </a:r>
            <a:endParaRPr lang="en-US" sz="2200" dirty="0"/>
          </a:p>
          <a:p>
            <a:r>
              <a:rPr lang="en-US" sz="2200" dirty="0"/>
              <a:t>Results</a:t>
            </a:r>
            <a:endParaRPr lang="en-US" sz="2200" dirty="0"/>
          </a:p>
          <a:p>
            <a:pPr lvl="1"/>
            <a:r>
              <a:rPr lang="en-US" sz="1800" dirty="0"/>
              <a:t>Visualization – Charts</a:t>
            </a:r>
            <a:endParaRPr lang="en-US" sz="1800" dirty="0"/>
          </a:p>
          <a:p>
            <a:pPr lvl="1"/>
            <a:r>
              <a:rPr lang="en-US" sz="1800" dirty="0"/>
              <a:t>Dashboard</a:t>
            </a:r>
            <a:endParaRPr lang="en-US" sz="1800" dirty="0"/>
          </a:p>
          <a:p>
            <a:r>
              <a:rPr lang="en-US" sz="2200" dirty="0"/>
              <a:t>Discussion</a:t>
            </a:r>
            <a:endParaRPr lang="en-US" sz="2200" dirty="0"/>
          </a:p>
          <a:p>
            <a:pPr lvl="1"/>
            <a:r>
              <a:rPr lang="en-US" sz="1800" dirty="0"/>
              <a:t>Findings &amp; Implications</a:t>
            </a:r>
            <a:endParaRPr lang="en-US" sz="1800" dirty="0"/>
          </a:p>
          <a:p>
            <a:r>
              <a:rPr lang="en-US" sz="2200" dirty="0"/>
              <a:t>Conclusion</a:t>
            </a:r>
            <a:endParaRPr lang="en-US" sz="2200" dirty="0"/>
          </a:p>
          <a:p>
            <a:r>
              <a:rPr lang="en-US" sz="2200" dirty="0"/>
              <a:t>Appendix</a:t>
            </a:r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Ink 10"/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3"/>
            </p:blipFill>
            <p:spPr>
              <a:xfrm>
                <a:off x="1889280" y="99931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2" name="Ink 11"/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3"/>
            </p:blipFill>
            <p:spPr>
              <a:xfrm>
                <a:off x="2328120" y="96295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3" name="Ink 12"/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3"/>
            </p:blipFill>
            <p:spPr>
              <a:xfrm>
                <a:off x="2828160" y="92623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4" name="Ink 13"/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7"/>
            </p:blipFill>
            <p:spPr>
              <a:xfrm>
                <a:off x="2828160" y="926232"/>
                <a:ext cx="3240" cy="5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5" name="Ink 14"/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3"/>
            </p:blipFill>
            <p:spPr>
              <a:xfrm>
                <a:off x="7266240" y="288895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6" name="Ink 15"/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3"/>
            </p:blipFill>
            <p:spPr>
              <a:xfrm>
                <a:off x="7266240" y="288895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7" name="Ink 16"/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3"/>
            </p:blipFill>
            <p:spPr>
              <a:xfrm>
                <a:off x="7266240" y="288895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8" name="Ink 17"/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3"/>
            </p:blipFill>
            <p:spPr>
              <a:xfrm>
                <a:off x="7266240" y="2888952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9" name="Ink 18"/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/>
            </p:nvPicPr>
            <p:blipFill>
              <a:blip r:embed="rId13"/>
            </p:blipFill>
            <p:spPr>
              <a:xfrm>
                <a:off x="6680880" y="2877072"/>
                <a:ext cx="360" cy="360"/>
              </a:xfrm>
              <a:prstGeom prst="rect"/>
            </p:spPr>
          </p:pic>
        </mc:Fallback>
      </mc:AlternateContent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  <a:endParaRPr lang="en-US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3538220" y="1630045"/>
            <a:ext cx="7815580" cy="466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2974975"/>
            <a:ext cx="2522220" cy="25222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505835" y="2192655"/>
            <a:ext cx="64738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Analyzed global developer skill trends using survey, job posting, and dashboard data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Identified top programming languages and databases in current and future demand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Found strong alignment between employer demand and developer learning interests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Results support strategic workforce planning and targeted upskilling initiatives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261870"/>
            <a:ext cx="3357245" cy="33572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197985" y="2122805"/>
            <a:ext cx="7098665" cy="3985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526915" y="2475230"/>
            <a:ext cx="6896735" cy="3257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Purpose: Identify emerging technology trends to support data-driven workforce decisions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Audience: Executive leadership, HR teams, and technology consultants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Value: Enables proactive hiring strategies, targeted training investments, and competitive advantage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  <a:endParaRPr lang="en-US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60000"/>
              </a:lnSpc>
            </a:pPr>
            <a:r>
              <a:rPr lang="en-US" altLang="en-US" sz="2000" dirty="0"/>
              <a:t>Data Sources:</a:t>
            </a:r>
            <a:endParaRPr lang="en-US" altLang="en-US" sz="2000" dirty="0"/>
          </a:p>
          <a:p>
            <a:pPr>
              <a:lnSpc>
                <a:spcPct val="60000"/>
              </a:lnSpc>
            </a:pPr>
            <a:endParaRPr lang="en-US" altLang="en-US" sz="2000" dirty="0"/>
          </a:p>
          <a:p>
            <a:pPr lvl="1">
              <a:lnSpc>
                <a:spcPct val="60000"/>
              </a:lnSpc>
            </a:pPr>
            <a:r>
              <a:rPr lang="en-US" altLang="en-US" sz="1800" dirty="0"/>
              <a:t>Stack Overflow Annual Developer Survey</a:t>
            </a:r>
            <a:endParaRPr lang="en-US" altLang="en-US" sz="1800" dirty="0"/>
          </a:p>
          <a:p>
            <a:pPr lvl="1">
              <a:lnSpc>
                <a:spcPct val="60000"/>
              </a:lnSpc>
            </a:pPr>
            <a:endParaRPr lang="en-US" altLang="en-US" sz="1800" dirty="0"/>
          </a:p>
          <a:p>
            <a:pPr lvl="1">
              <a:lnSpc>
                <a:spcPct val="60000"/>
              </a:lnSpc>
            </a:pPr>
            <a:r>
              <a:rPr lang="en-US" altLang="en-US" sz="1800" dirty="0"/>
              <a:t>Job postings API data</a:t>
            </a:r>
            <a:endParaRPr lang="en-US" altLang="en-US" sz="1800" dirty="0"/>
          </a:p>
          <a:p>
            <a:pPr lvl="1">
              <a:lnSpc>
                <a:spcPct val="60000"/>
              </a:lnSpc>
            </a:pPr>
            <a:endParaRPr lang="en-US" altLang="en-US" sz="1800" dirty="0"/>
          </a:p>
          <a:p>
            <a:pPr lvl="1">
              <a:lnSpc>
                <a:spcPct val="60000"/>
              </a:lnSpc>
            </a:pPr>
            <a:r>
              <a:rPr lang="en-US" altLang="en-US" sz="1800" dirty="0"/>
              <a:t>Web-scraped programming language data</a:t>
            </a:r>
            <a:endParaRPr lang="en-US" altLang="en-US" sz="1800" dirty="0"/>
          </a:p>
          <a:p>
            <a:pPr>
              <a:lnSpc>
                <a:spcPct val="60000"/>
              </a:lnSpc>
            </a:pPr>
            <a:endParaRPr lang="en-US" altLang="en-US" sz="2000" dirty="0"/>
          </a:p>
          <a:p>
            <a:pPr>
              <a:lnSpc>
                <a:spcPct val="60000"/>
              </a:lnSpc>
            </a:pPr>
            <a:r>
              <a:rPr lang="en-US" altLang="en-US" sz="2000" dirty="0"/>
              <a:t>Data Cleaning:</a:t>
            </a:r>
            <a:endParaRPr lang="en-US" altLang="en-US" sz="2000" dirty="0"/>
          </a:p>
          <a:p>
            <a:pPr>
              <a:lnSpc>
                <a:spcPct val="60000"/>
              </a:lnSpc>
            </a:pPr>
            <a:endParaRPr lang="en-US" altLang="en-US" sz="2000" dirty="0"/>
          </a:p>
          <a:p>
            <a:pPr lvl="1">
              <a:lnSpc>
                <a:spcPct val="60000"/>
              </a:lnSpc>
            </a:pPr>
            <a:r>
              <a:rPr lang="en-US" altLang="en-US" sz="1800" dirty="0"/>
              <a:t>Removed duplicate responses</a:t>
            </a:r>
            <a:endParaRPr lang="en-US" altLang="en-US" sz="1800" dirty="0"/>
          </a:p>
          <a:p>
            <a:pPr lvl="1">
              <a:lnSpc>
                <a:spcPct val="60000"/>
              </a:lnSpc>
            </a:pPr>
            <a:endParaRPr lang="en-US" altLang="en-US" sz="1800" dirty="0"/>
          </a:p>
          <a:p>
            <a:pPr lvl="1">
              <a:lnSpc>
                <a:spcPct val="60000"/>
              </a:lnSpc>
            </a:pPr>
            <a:r>
              <a:rPr lang="en-US" altLang="en-US" sz="1800" dirty="0"/>
              <a:t>Handled missing values using mode/median imputation</a:t>
            </a:r>
            <a:endParaRPr lang="en-US" altLang="en-US" sz="1800" dirty="0"/>
          </a:p>
          <a:p>
            <a:pPr lvl="1">
              <a:lnSpc>
                <a:spcPct val="60000"/>
              </a:lnSpc>
            </a:pPr>
            <a:endParaRPr lang="en-US" altLang="en-US" sz="1800" dirty="0"/>
          </a:p>
          <a:p>
            <a:pPr lvl="1">
              <a:lnSpc>
                <a:spcPct val="60000"/>
              </a:lnSpc>
            </a:pPr>
            <a:r>
              <a:rPr lang="en-US" altLang="en-US" sz="1800" dirty="0"/>
              <a:t>Removed salary outliers using IQR method</a:t>
            </a:r>
            <a:endParaRPr lang="en-US" altLang="en-US" sz="1800" dirty="0"/>
          </a:p>
          <a:p>
            <a:pPr lvl="1"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2000" dirty="0"/>
              <a:t>Tools: Python (Pandas), SQL, Power BI</a:t>
            </a:r>
            <a:endParaRPr lang="en-US" alt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  <a:endParaRPr lang="en-US" dirty="0"/>
          </a:p>
        </p:txBody>
      </p:sp>
      <p:sp>
        <p:nvSpPr>
          <p:cNvPr id="10" name="Content Placeholder 2"/>
          <p:cNvSpPr txBox="1"/>
          <p:nvPr/>
        </p:nvSpPr>
        <p:spPr>
          <a:xfrm>
            <a:off x="838200" y="2506345"/>
            <a:ext cx="4615180" cy="1905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/>
          <p:cNvSpPr txBox="1"/>
          <p:nvPr/>
        </p:nvSpPr>
        <p:spPr>
          <a:xfrm>
            <a:off x="6172200" y="2506345"/>
            <a:ext cx="4615180" cy="1703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programming languages for the next year goes here.&gt;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13485" y="3059430"/>
            <a:ext cx="9573895" cy="2859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3" name="Picture 2" descr="Top 10 Language Current &amp;Fu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2461895"/>
            <a:ext cx="9819005" cy="22053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930400" y="5050155"/>
            <a:ext cx="7955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Python, JavaScript, and SQL dominate current usage across industries.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  <a:endParaRPr 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lnSpc>
                <a:spcPct val="70000"/>
              </a:lnSpc>
            </a:pPr>
            <a:r>
              <a:rPr lang="en-US" altLang="en-US" dirty="0"/>
              <a:t>Python remains the most dominant language</a:t>
            </a:r>
            <a:endParaRPr lang="en-US" altLang="en-US" dirty="0"/>
          </a:p>
          <a:p>
            <a:pPr>
              <a:lnSpc>
                <a:spcPct val="70000"/>
              </a:lnSpc>
            </a:pPr>
            <a:endParaRPr lang="en-US" altLang="en-US" dirty="0"/>
          </a:p>
          <a:p>
            <a:pPr>
              <a:lnSpc>
                <a:spcPct val="70000"/>
              </a:lnSpc>
            </a:pPr>
            <a:r>
              <a:rPr lang="en-US" altLang="en-US" dirty="0"/>
              <a:t>JavaScript continues strong demand</a:t>
            </a:r>
            <a:endParaRPr lang="en-US" altLang="en-US" dirty="0"/>
          </a:p>
          <a:p>
            <a:pPr>
              <a:lnSpc>
                <a:spcPct val="70000"/>
              </a:lnSpc>
            </a:pPr>
            <a:endParaRPr lang="en-US" altLang="en-US" dirty="0"/>
          </a:p>
          <a:p>
            <a:pPr>
              <a:lnSpc>
                <a:spcPct val="70000"/>
              </a:lnSpc>
            </a:pPr>
            <a:r>
              <a:rPr lang="en-US" altLang="en-US" dirty="0"/>
              <a:t>AI-oriented languages show increased interest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altLang="en-US" dirty="0">
                <a:sym typeface="+mn-ea"/>
              </a:rPr>
              <a:t>Organizations should prioritize Python-centric skill development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>
                <a:sym typeface="+mn-ea"/>
              </a:rPr>
              <a:t>Future hiring should emphasize full-stack and data-driven roles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  <a:endParaRPr lang="en-US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current year goes here &gt;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next year goes here.&gt;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7" name="Picture 6" descr="Top 10 Database Current &amp;Fu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330" y="2221230"/>
            <a:ext cx="10360025" cy="25076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444240" y="4957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     DATABASE TRENDS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4610" y="1691005"/>
            <a:ext cx="4104005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Findings</a:t>
            </a:r>
            <a:endParaRPr lang="en-US" altLang="en-US" b="1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Relational databases (PostgreSQL, MySQL) remain foundational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Cloud-native and NoSQL databases show growing demand</a:t>
            </a:r>
            <a:endParaRPr lang="en-US" altLang="en-US" sz="2400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6321425" y="1691005"/>
            <a:ext cx="4042410" cy="4142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en-US" sz="2800" b="1" dirty="0">
                <a:sym typeface="+mn-ea"/>
              </a:rPr>
              <a:t>Implications</a:t>
            </a:r>
            <a:endParaRPr lang="en-US" altLang="en-US" sz="2800" b="1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>
                <a:sym typeface="+mn-ea"/>
              </a:rPr>
              <a:t>Companies should modernize data infrastructure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>
                <a:sym typeface="+mn-ea"/>
              </a:rPr>
              <a:t>Training should include both SQL and cloud database technologies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  <a:endParaRPr lang="en-US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1953895" y="5166360"/>
            <a:ext cx="9215120" cy="6788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altLang="en-US" sz="2200" dirty="0"/>
              <a:t>Major metropolitan areas show significantly higher demand for developer roles.</a:t>
            </a:r>
            <a:endParaRPr lang="en-US" alt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595" y="1901825"/>
            <a:ext cx="2127885" cy="3054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05" y="1691005"/>
            <a:ext cx="5314950" cy="3423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Current Tech Usage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dirty="0"/>
              <a:t>Highlights primary languages in use.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Visualizes current database market share.</a:t>
            </a:r>
            <a:endParaRPr lang="en-US" altLang="en-US" dirty="0"/>
          </a:p>
        </p:txBody>
      </p:sp>
      <p:pic>
        <p:nvPicPr>
          <p:cNvPr id="4" name="Picture 3" descr="Current Tech Us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1691005"/>
            <a:ext cx="9271000" cy="4438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Future Trends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dirty="0"/>
              <a:t>Shows "Want to Work With" data.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Identifies the "Next Wave" technologies.</a:t>
            </a:r>
            <a:endParaRPr lang="en-US" altLang="en-US" dirty="0"/>
          </a:p>
        </p:txBody>
      </p:sp>
      <p:pic>
        <p:nvPicPr>
          <p:cNvPr id="4" name="Picture 3" descr="Future Trend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1479550"/>
            <a:ext cx="9695180" cy="4562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Demographics &amp; Geography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dirty="0"/>
              <a:t>Distribution of developers by country.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Age and gender diversity metrics.</a:t>
            </a:r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9858375" cy="45478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285" y="1825625"/>
            <a:ext cx="564451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+mn-ea"/>
              </a:rPr>
              <a:t>Python and SQL dominate both current use and future interest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ym typeface="+mn-ea"/>
              </a:rPr>
              <a:t>Cloud and data-focused technologies are growing rapidly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ym typeface="+mn-ea"/>
              </a:rPr>
              <a:t>Developer demographics show global participation with regional concentration</a:t>
            </a:r>
            <a:endParaRPr lang="en-US" altLang="en-US" dirty="0"/>
          </a:p>
          <a:p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070" y="1825625"/>
            <a:ext cx="972185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Strong alignment exists between industry demand and developer skill interests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Data and cloud technologies are central to future tech strategies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Organizations that invest early in upskilling will gain competitive advantage</a:t>
            </a:r>
            <a:endParaRPr lang="en-US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  <a:endParaRPr lang="en-US" dirty="0"/>
          </a:p>
        </p:txBody>
      </p:sp>
      <p:pic>
        <p:nvPicPr>
          <p:cNvPr id="13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09135" y="2113915"/>
            <a:ext cx="6164580" cy="295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Python, SQL, and JavaScript remain critical core skills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Database expertise is shifting toward scalable, cloud-ready solutions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Data-driven insights can guide effective hiring and training strategies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  <a:endParaRPr lang="en-US" dirty="0"/>
          </a:p>
        </p:txBody>
      </p:sp>
      <p:sp>
        <p:nvSpPr>
          <p:cNvPr id="10" name="Content Placeholder 3"/>
          <p:cNvSpPr txBox="1"/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  <a:endParaRPr lang="en-US" dirty="0"/>
          </a:p>
        </p:txBody>
      </p:sp>
      <p:sp>
        <p:nvSpPr>
          <p:cNvPr id="10" name="Content Placeholder 2"/>
          <p:cNvSpPr txBox="1"/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altLang="en-US" sz="2200"/>
              <a:t>Job API Data: Bar chart of postings by city.</a:t>
            </a:r>
            <a:endParaRPr lang="en-US" altLang="en-US" sz="2200"/>
          </a:p>
          <a:p>
            <a:pPr marL="0" indent="0">
              <a:buFont typeface="Arial" panose="020B0604020202020204"/>
              <a:buNone/>
            </a:pPr>
            <a:endParaRPr lang="en-US" altLang="en-US" sz="2200"/>
          </a:p>
          <a:p>
            <a:pPr marL="0" indent="0">
              <a:buFont typeface="Arial" panose="020B0604020202020204"/>
              <a:buNone/>
            </a:pPr>
            <a:r>
              <a:rPr lang="en-US" altLang="en-US" sz="2200"/>
              <a:t>Web Scraped Table: List of top 10 languages.</a:t>
            </a:r>
            <a:endParaRPr lang="en-US" altLang="en-US" sz="2200"/>
          </a:p>
          <a:p>
            <a:pPr marL="0" indent="0">
              <a:buFont typeface="Arial" panose="020B0604020202020204"/>
              <a:buNone/>
            </a:pPr>
            <a:endParaRPr lang="en-US" altLang="en-US" sz="2200"/>
          </a:p>
          <a:p>
            <a:pPr marL="0" indent="0">
              <a:buFont typeface="Arial" panose="020B0604020202020204"/>
              <a:buNone/>
            </a:pPr>
            <a:r>
              <a:rPr lang="en-US" altLang="en-US" sz="2200"/>
              <a:t>Outlier Plot: Box plot of salary cleaning.</a:t>
            </a:r>
            <a:r>
              <a:rPr lang="en-US" sz="2200"/>
              <a:t>.</a:t>
            </a:r>
            <a:endParaRPr lang="en-US" sz="2200" dirty="0"/>
          </a:p>
        </p:txBody>
      </p:sp>
      <p:pic>
        <p:nvPicPr>
          <p:cNvPr id="2" name="Picture 1" descr="BoxPlot Salary vs 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765" y="1408430"/>
            <a:ext cx="10193020" cy="4429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  <a:endParaRPr lang="en-US" dirty="0"/>
          </a:p>
        </p:txBody>
      </p:sp>
      <p:sp>
        <p:nvSpPr>
          <p:cNvPr id="7" name="Content Placeholder 2"/>
          <p:cNvSpPr txBox="1"/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sz="2200"/>
              <a:t>In Module 1 you have collected the job postings data using web scraping in a file named “</a:t>
            </a:r>
            <a:r>
              <a:rPr lang="en-IN" sz="2400"/>
              <a:t>popular-languages.csv</a:t>
            </a:r>
            <a:r>
              <a:rPr lang="en-US" sz="2200"/>
              <a:t>”. Present that data using a bar chart here. Order the bar chart in the descending order of salary.</a:t>
            </a:r>
            <a:endParaRPr lang="en-US" sz="2200" dirty="0"/>
          </a:p>
        </p:txBody>
      </p:sp>
      <p:pic>
        <p:nvPicPr>
          <p:cNvPr id="2" name="Picture 1" descr="Popular Langu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600200"/>
            <a:ext cx="10479405" cy="3657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THUMBNAIL_REFRESH" val="1"/>
</p:tagLst>
</file>

<file path=ppt/tags/tag24.xml><?xml version="1.0" encoding="utf-8"?>
<p:tagLst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21.xml><?xml version="1.0" encoding="utf-8"?>
<ds:datastoreItem xmlns:ds="http://schemas.openxmlformats.org/officeDocument/2006/customXml" ds:itemID="{7EFDA260-DDA0-422C-B7AE-778F653FBB36}">
  <ds:schemaRefs/>
</ds:datastoreItem>
</file>

<file path=customXml/itemProps22.xml><?xml version="1.0" encoding="utf-8"?>
<ds:datastoreItem xmlns:ds="http://schemas.openxmlformats.org/officeDocument/2006/customXml" ds:itemID="{54DA07C5-A406-4A0D-B3E6-3856C94AC7F3}">
  <ds:schemaRefs/>
</ds:datastoreItem>
</file>

<file path=customXml/itemProps23.xml><?xml version="1.0" encoding="utf-8"?>
<ds:datastoreItem xmlns:ds="http://schemas.openxmlformats.org/officeDocument/2006/customXml" ds:itemID="{BEAB06F8-DBB4-44C7-AF84-8B098C8B039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0</TotalTime>
  <Words>3537</Words>
  <Application>WPS Presentation</Application>
  <PresentationFormat>Widescreen</PresentationFormat>
  <Paragraphs>177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IBM Plex Sans</vt:lpstr>
      <vt:lpstr>Yu Gothic UI</vt:lpstr>
      <vt:lpstr>IBM Plex Mono</vt:lpstr>
      <vt:lpstr>IBM Plex Sans SemiBold</vt:lpstr>
      <vt:lpstr>Arial</vt:lpstr>
      <vt:lpstr>Helv</vt:lpstr>
      <vt:lpstr>Segoe Print</vt:lpstr>
      <vt:lpstr>IBM Plex Mono Text</vt:lpstr>
      <vt:lpstr>Microsoft YaHei</vt:lpstr>
      <vt:lpstr>Arial Unicode MS</vt:lpstr>
      <vt:lpstr>Calibri</vt:lpstr>
      <vt:lpstr>SLIDE_TEMPLATE_skill_network</vt:lpstr>
      <vt:lpstr>The Next Wave of Tech:  A Comprehensive Report on In-Demand Developer Skills</vt:lpstr>
      <vt:lpstr>PowerPoint 演示文稿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Current Tech Usage</vt:lpstr>
      <vt:lpstr>Future Trends</vt:lpstr>
      <vt:lpstr>Demographics &amp; Geography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fayfay</cp:lastModifiedBy>
  <cp:revision>7</cp:revision>
  <dcterms:created xsi:type="dcterms:W3CDTF">2024-10-30T05:40:00Z</dcterms:created>
  <dcterms:modified xsi:type="dcterms:W3CDTF">2026-01-04T05:11:37Z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  <property fmtid="{D5CDD505-2E9C-101B-9397-08002B2CF9AE}" pid="6" name="ICV">
    <vt:lpwstr>2657344C97E449479E50E4909ACED2E7_13</vt:lpwstr>
  </property>
  <property fmtid="{D5CDD505-2E9C-101B-9397-08002B2CF9AE}" pid="7" name="KSOProductBuildVer">
    <vt:lpwstr>1033-12.2.0.23196</vt:lpwstr>
  </property>
</Properties>
</file>